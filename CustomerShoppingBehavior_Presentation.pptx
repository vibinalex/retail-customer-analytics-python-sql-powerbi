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2926080" cy="29260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DOCUMENTATION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Analysis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3,900 transaction records into product, pricing, and marketing insight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1083381" cy="457200"/>
          </a:xfrm>
          <a:prstGeom prst="roundRect">
            <a:avLst>
              <a:gd name="adj" fmla="val 16000"/>
            </a:avLst>
          </a:prstGeom>
          <a:solidFill>
            <a:srgbClr val="141B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20640"/>
            <a:ext cx="10833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34941" y="5120640"/>
            <a:ext cx="1196035" cy="457200"/>
          </a:xfrm>
          <a:prstGeom prst="roundRect">
            <a:avLst>
              <a:gd name="adj" fmla="val 16000"/>
            </a:avLst>
          </a:prstGeom>
          <a:solidFill>
            <a:srgbClr val="141B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4941" y="5120640"/>
            <a:ext cx="11960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59576" y="5120640"/>
            <a:ext cx="1139708" cy="457200"/>
          </a:xfrm>
          <a:prstGeom prst="roundRect">
            <a:avLst>
              <a:gd name="adj" fmla="val 16000"/>
            </a:avLst>
          </a:prstGeom>
          <a:solidFill>
            <a:srgbClr val="141B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9576" y="5120640"/>
            <a:ext cx="11397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internal review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019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9164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3042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Goal, scope, and technology stack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31927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691640" y="3337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Summary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37216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and structure of the dataset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73659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691640" y="4754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&amp; Cleaning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513892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exploring, and preparing the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73736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9019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36092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60920" y="23042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 answered in PostgreSQL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15468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31927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360920" y="3337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60920" y="37216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reporting layer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5720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73659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360920" y="4754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60920" y="513892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business should do next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purchasing patterns, customer demographics, and behavior drivers — discounts, subscriptions, shipping preferences, and purchase frequency — to support decisions on marketing, retention, and inventory.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1691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1488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39572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22677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78040" y="2651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0" y="3081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33832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7960" y="363016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630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78040" y="35021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178040" y="3886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querying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43159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46177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7960" y="486460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4864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78040" y="47365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178040" y="5120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Dashboarding &amp; visualization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Summary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customer transaction records across 18 columns — demographics, purchase details, and shopping behavior.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317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1031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3317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26280" y="3246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21031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8183880" y="23317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183880" y="3246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 Amount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3434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 / 5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68680" y="5257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 Rating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41148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3434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526280" y="5257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Subscribed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0" y="41148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8183880" y="43434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8183880" y="5257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(Review Rating)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Python: Exploratory Data Analysis Workflow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993392" cy="2743200"/>
          </a:xfrm>
          <a:prstGeom prst="roundRect">
            <a:avLst>
              <a:gd name="adj" fmla="val 4128"/>
            </a:avLst>
          </a:prstGeom>
          <a:solidFill>
            <a:srgbClr val="141B47"/>
          </a:solidFill>
          <a:ln/>
        </p:spPr>
      </p:sp>
      <p:sp>
        <p:nvSpPr>
          <p:cNvPr id="5" name="Shape 3"/>
          <p:cNvSpPr/>
          <p:nvPr/>
        </p:nvSpPr>
        <p:spPr>
          <a:xfrm>
            <a:off x="1316736" y="269748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1719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CSV with pandas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51760" y="342900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62072" y="2377440"/>
            <a:ext cx="1993392" cy="2743200"/>
          </a:xfrm>
          <a:prstGeom prst="roundRect">
            <a:avLst>
              <a:gd name="adj" fmla="val 4128"/>
            </a:avLst>
          </a:prstGeom>
          <a:solidFill>
            <a:srgbClr val="141B47"/>
          </a:solidFill>
          <a:ln/>
        </p:spPr>
      </p:sp>
      <p:sp>
        <p:nvSpPr>
          <p:cNvPr id="11" name="Shape 9"/>
          <p:cNvSpPr/>
          <p:nvPr/>
        </p:nvSpPr>
        <p:spPr>
          <a:xfrm>
            <a:off x="3538728" y="269748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99232" y="352044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99232" y="3931920"/>
            <a:ext cx="1719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df.info() and df.describe()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73752" y="342900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84064" y="2377440"/>
            <a:ext cx="1993392" cy="2743200"/>
          </a:xfrm>
          <a:prstGeom prst="roundRect">
            <a:avLst>
              <a:gd name="adj" fmla="val 4128"/>
            </a:avLst>
          </a:prstGeom>
          <a:solidFill>
            <a:srgbClr val="141B47"/>
          </a:solidFill>
          <a:ln/>
        </p:spPr>
      </p:sp>
      <p:sp>
        <p:nvSpPr>
          <p:cNvPr id="17" name="Shape 15"/>
          <p:cNvSpPr/>
          <p:nvPr/>
        </p:nvSpPr>
        <p:spPr>
          <a:xfrm>
            <a:off x="5760720" y="269748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221224" y="352044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21224" y="3931920"/>
            <a:ext cx="1719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37 missing ratings using category median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95744" y="342900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06056" y="2377440"/>
            <a:ext cx="1993392" cy="2743200"/>
          </a:xfrm>
          <a:prstGeom prst="roundRect">
            <a:avLst>
              <a:gd name="adj" fmla="val 4128"/>
            </a:avLst>
          </a:prstGeom>
          <a:solidFill>
            <a:srgbClr val="141B47"/>
          </a:solidFill>
          <a:ln/>
        </p:spPr>
      </p:sp>
      <p:sp>
        <p:nvSpPr>
          <p:cNvPr id="23" name="Shape 21"/>
          <p:cNvSpPr/>
          <p:nvPr/>
        </p:nvSpPr>
        <p:spPr>
          <a:xfrm>
            <a:off x="7982712" y="269748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7982712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443216" y="352044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43216" y="3931920"/>
            <a:ext cx="1719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columns to snake_case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317736" y="342900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28048" y="2377440"/>
            <a:ext cx="1993392" cy="2743200"/>
          </a:xfrm>
          <a:prstGeom prst="roundRect">
            <a:avLst>
              <a:gd name="adj" fmla="val 4128"/>
            </a:avLst>
          </a:prstGeom>
          <a:solidFill>
            <a:srgbClr val="141B47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04704" y="269748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8"/>
          <p:cNvSpPr/>
          <p:nvPr/>
        </p:nvSpPr>
        <p:spPr>
          <a:xfrm>
            <a:off x="10204704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665208" y="352044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65208" y="3931920"/>
            <a:ext cx="1719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age_group &amp; purchase_frequency_days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verified discount_applied and promo_code_used carried the same signal — promo_code_used was dropped to reduce redundancy — then the cleaned data was loaded into PostgreSQL for SQL analysis.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DATA CLEANING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Data Handling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 had 37 missing values (~1% of records). Each was filled using the median rating of the product's category — preserving category-level rating patterns instead of a single global average.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14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pic>
        <p:nvPicPr>
          <p:cNvPr id="7" name="Image 0" descr="image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34440" y="2926080"/>
            <a:ext cx="3566160" cy="2788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233172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6537960" y="2514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pic>
        <p:nvPicPr>
          <p:cNvPr id="10" name="Image 1" descr="image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03720" y="2926080"/>
            <a:ext cx="3566160" cy="2788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DATA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Consistency Checks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7647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age_group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173736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column created by binning customer ages into readable groups (e.g. Young Adult, Middle-aged, Senior).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81635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purchase_frequency_days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0" y="278892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purchase date to quantify how often a customer buys.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8679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columns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97680" y="384048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 names standardized for readability and downstream SQL/BI compatibility.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91947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check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97680" y="489204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discount_applied and promo_code_used were found to carry the same signal — promo_code_used was dropped.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SQL: 10 Business Questions Answered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analysis performed directly in PostgreSQL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22199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0574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35808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320040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303580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High-Spending Discount Users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014216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417880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4014216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Rating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992624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515721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5157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4992624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 Comparison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971032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" y="613562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6135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597103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vs. Non-Subscribers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2057400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3952" y="222199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473952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86600" y="20574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Discount-Dependent Products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09360" y="3035808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/>
        </p:spPr>
      </p:sp>
      <p:sp>
        <p:nvSpPr>
          <p:cNvPr id="30" name="Shape 28"/>
          <p:cNvSpPr/>
          <p:nvPr/>
        </p:nvSpPr>
        <p:spPr>
          <a:xfrm>
            <a:off x="6473952" y="320040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1" name="Text 29"/>
          <p:cNvSpPr/>
          <p:nvPr/>
        </p:nvSpPr>
        <p:spPr>
          <a:xfrm>
            <a:off x="6473952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86600" y="303580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4014216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/>
        </p:spPr>
      </p:sp>
      <p:sp>
        <p:nvSpPr>
          <p:cNvPr id="34" name="Shape 32"/>
          <p:cNvSpPr/>
          <p:nvPr/>
        </p:nvSpPr>
        <p:spPr>
          <a:xfrm>
            <a:off x="6473952" y="417880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5" name="Text 33"/>
          <p:cNvSpPr/>
          <p:nvPr/>
        </p:nvSpPr>
        <p:spPr>
          <a:xfrm>
            <a:off x="6473952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86600" y="4014216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per Category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309360" y="4992624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/>
        </p:spPr>
      </p:sp>
      <p:sp>
        <p:nvSpPr>
          <p:cNvPr id="38" name="Shape 36"/>
          <p:cNvSpPr/>
          <p:nvPr/>
        </p:nvSpPr>
        <p:spPr>
          <a:xfrm>
            <a:off x="6473952" y="515721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9" name="Text 37"/>
          <p:cNvSpPr/>
          <p:nvPr/>
        </p:nvSpPr>
        <p:spPr>
          <a:xfrm>
            <a:off x="6473952" y="5157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086600" y="4992624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&amp; Subscriptions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309360" y="5971032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141B47"/>
          </a:solidFill>
          <a:ln/>
        </p:spPr>
      </p:sp>
      <p:sp>
        <p:nvSpPr>
          <p:cNvPr id="42" name="Shape 40"/>
          <p:cNvSpPr/>
          <p:nvPr/>
        </p:nvSpPr>
        <p:spPr>
          <a:xfrm>
            <a:off x="6473952" y="613562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3" name="Text 41"/>
          <p:cNvSpPr/>
          <p:nvPr/>
        </p:nvSpPr>
        <p:spPr>
          <a:xfrm>
            <a:off x="6473952" y="6135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086600" y="597103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Told 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128016" cy="548640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9385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skews male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51460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generated $157,890 in revenue vs. $75,191 from female customers.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2011680"/>
            <a:ext cx="128016" cy="548640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9385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barely outsells Standard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251460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value: $60.48 (Express) vs. $58.46 (Standard) — a marginal shipping-tier gap.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297680"/>
            <a:ext cx="128016" cy="548640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2245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 drive more revenue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80060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 total $170,436 vs. $62,645 from subscribers, despite similar avg. order size (~$59).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4297680"/>
            <a:ext cx="128016" cy="548640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42245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are “Loyal”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480060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of 3,900 customers fall into the Loyal segment; only 83 are New and 701 Returning.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in Power BI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 were consolidated into a single interactive dashboard with slicers for subscription status, gender, category, and shipping type.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/>
        </p:spPr>
      </p:sp>
      <p:pic>
        <p:nvPicPr>
          <p:cNvPr id="6" name="Image 0" descr="image1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2331720"/>
            <a:ext cx="10058400" cy="3886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66420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More Subscriptions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20640" y="161848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special perks to attract more customers into the subscription program.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560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Loyal Customers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25146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loyalty program that motivates repeat buyers to become long-term, loyal customers.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83864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83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4564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Discount Strategy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20640" y="3410712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discount offers to drive sales without cutting too deep into profit margins.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79976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799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35254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Product Marketing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20640" y="4306824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high-rated and top-selling items more prominently in promotional campaigns.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27608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76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524865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Efforts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20640" y="5202936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marketing resources toward age groups that generate the most revenue and customers who prefer express shipping.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206240" cy="42062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—  Python · PostgreSQL · Power BI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2026-07-13T03:03:12Z</dcterms:created>
  <dcterms:modified xsi:type="dcterms:W3CDTF">2026-07-13T03:03:12Z</dcterms:modified>
</cp:coreProperties>
</file>